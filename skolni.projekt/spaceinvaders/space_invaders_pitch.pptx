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DE00"/>
                </a:solidFill>
                <a:latin typeface="Calibri"/>
              </a:rPr>
              <a:t>SPACE INVADERS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4B5"/>
                </a:solidFill>
                <a:latin typeface="Calibri"/>
              </a:rPr>
              <a:t>ŠKOLNÍ PROJEKT — INVESTOR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CC"/>
                </a:solidFill>
                <a:latin typeface="Calibri"/>
              </a:rPr>
              <a:t>Středoškolský projekt — Python / pygame / Web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097280"/>
            <a:ext cx="2377440" cy="3657600"/>
          </a:xfrm>
          <a:prstGeom prst="rect">
            <a:avLst/>
          </a:prstGeom>
          <a:solidFill>
            <a:srgbClr val="121238"/>
          </a:solidFill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13716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E00"/>
                </a:solidFill>
                <a:latin typeface="Calibri"/>
              </a:rPr>
              <a:t>INSERT COIN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CC"/>
                </a:solidFill>
                <a:latin typeface="Calibri"/>
              </a:rPr>
              <a:t>▶ PRESS START 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6309360"/>
            <a:ext cx="12051792" cy="54864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CONFIDENTIAL  •  2026  •  ŠKOLNÍ PROJEKT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 JSME POSTAVILI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4B5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566160" cy="3840480"/>
          </a:xfrm>
          <a:prstGeom prst="rect">
            <a:avLst/>
          </a:prstGeom>
          <a:solidFill>
            <a:srgbClr val="121238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E00"/>
                </a:solidFill>
                <a:latin typeface="Calibri"/>
              </a:rPr>
              <a:t>HRA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CC"/>
                </a:solidFill>
                <a:latin typeface="Calibri"/>
              </a:rPr>
              <a:t>Plnohodnotná arkádová střílečka napsaná v Pythonu + pygame. Vlny nepřátel, meteority, powerupy, HUD, highscores.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3840480"/>
          </a:xfrm>
          <a:prstGeom prst="rect">
            <a:avLst/>
          </a:prstGeom>
          <a:solidFill>
            <a:srgbClr val="121238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E00"/>
                </a:solidFill>
                <a:latin typeface="Calibri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CC"/>
                </a:solidFill>
                <a:latin typeface="Calibri"/>
              </a:rPr>
              <a:t>Kompletní webové rozhraní v čistém HTML/CSS/JS. Login, registrace, žebříček nejvyšších skóre, dokumentace.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566160" cy="3840480"/>
          </a:xfrm>
          <a:prstGeom prst="rect">
            <a:avLst/>
          </a:prstGeom>
          <a:solidFill>
            <a:srgbClr val="121238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E00"/>
                </a:solidFill>
                <a:latin typeface="Calibri"/>
              </a:rPr>
              <a:t>TESTY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004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CC"/>
                </a:solidFill>
                <a:latin typeface="Calibri"/>
              </a:rPr>
              <a:t>Automatické testy klíčové herní logiky — škálování rozlišení a ukládání highscores do JSON.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6309360"/>
            <a:ext cx="12051792" cy="548640"/>
          </a:xfrm>
          <a:prstGeom prst="rect">
            <a:avLst/>
          </a:prstGeom>
          <a:solidFill>
            <a:srgbClr val="12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C4B5"/>
                </a:solidFill>
                <a:latin typeface="Calibri"/>
              </a:rPr>
              <a:t>Projekt kombinuje herní vývoj, webové technologie a softwarové testování.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TECHNOLOGICKÝ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4937760"/>
          </a:xfrm>
          <a:prstGeom prst="rect">
            <a:avLst/>
          </a:prstGeom>
          <a:solidFill>
            <a:srgbClr val="121238"/>
          </a:solidFill>
          <a:ln w="1905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4B5"/>
                </a:solidFill>
                <a:latin typeface="Calibri"/>
              </a:rPr>
              <a:t>⚙️  HERNÍ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4846320" cy="777240"/>
          </a:xfrm>
          <a:prstGeom prst="rect">
            <a:avLst/>
          </a:prstGeom>
          <a:solidFill>
            <a:srgbClr val="1A1A40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E00"/>
                </a:solidFill>
                <a:latin typeface="Calibri"/>
              </a:rPr>
              <a:t>Python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Hlavní jazyk — OOP, lambda, list comprehension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4846320" cy="777240"/>
          </a:xfrm>
          <a:prstGeom prst="rect">
            <a:avLst/>
          </a:prstGeom>
          <a:solidFill>
            <a:srgbClr val="1A1A40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62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E00"/>
                </a:solidFill>
                <a:latin typeface="Calibri"/>
              </a:rPr>
              <a:t>pygame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7296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2D grafika, vstup, zvuk, herní smyčka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4846320" cy="777240"/>
          </a:xfrm>
          <a:prstGeom prst="rect">
            <a:avLst/>
          </a:prstGeom>
          <a:solidFill>
            <a:srgbClr val="1A1A40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221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E00"/>
                </a:solidFill>
                <a:latin typeface="Calibri"/>
              </a:rPr>
              <a:t>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330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Perzistentní ukládání highscores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09160"/>
            <a:ext cx="4846320" cy="777240"/>
          </a:xfrm>
          <a:prstGeom prst="rect">
            <a:avLst/>
          </a:prstGeom>
          <a:solidFill>
            <a:srgbClr val="1A1A40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82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E00"/>
                </a:solidFill>
                <a:latin typeface="Calibri"/>
              </a:rPr>
              <a:t>ANSI testy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Automatické testování logiky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097280"/>
            <a:ext cx="5303520" cy="4937760"/>
          </a:xfrm>
          <a:prstGeom prst="rect">
            <a:avLst/>
          </a:prstGeom>
          <a:solidFill>
            <a:srgbClr val="121238"/>
          </a:solidFill>
          <a:ln w="19050">
            <a:solidFill>
              <a:srgbClr val="FF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E00"/>
                </a:solidFill>
                <a:latin typeface="Calibri"/>
              </a:rPr>
              <a:t>🌐  WEB 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828800"/>
            <a:ext cx="4846320" cy="777240"/>
          </a:xfrm>
          <a:prstGeom prst="rect">
            <a:avLst/>
          </a:prstGeom>
          <a:solidFill>
            <a:srgbClr val="1A1A40"/>
          </a:solidFill>
          <a:ln w="127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5"/>
                </a:solidFill>
                <a:latin typeface="Calibri"/>
              </a:rPr>
              <a:t>HTML5 / CSS3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2128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Brutalist design, CSS Grid, proměnné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788920"/>
            <a:ext cx="4846320" cy="777240"/>
          </a:xfrm>
          <a:prstGeom prst="rect">
            <a:avLst/>
          </a:prstGeom>
          <a:solidFill>
            <a:srgbClr val="1A1A40"/>
          </a:solidFill>
          <a:ln w="127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862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5"/>
                </a:solidFill>
                <a:latin typeface="Calibri"/>
              </a:rPr>
              <a:t>Vanilla 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17296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Async fetch, localStorage, DOM manipulace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749039"/>
            <a:ext cx="4846320" cy="777240"/>
          </a:xfrm>
          <a:prstGeom prst="rect">
            <a:avLst/>
          </a:prstGeom>
          <a:solidFill>
            <a:srgbClr val="1A1A40"/>
          </a:solidFill>
          <a:ln w="127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8221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5"/>
                </a:solidFill>
                <a:latin typeface="Calibri"/>
              </a:rPr>
              <a:t>Google Fonts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1330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Bebas Neue + Space Grotesk typografie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709160"/>
            <a:ext cx="4846320" cy="777240"/>
          </a:xfrm>
          <a:prstGeom prst="rect">
            <a:avLst/>
          </a:prstGeom>
          <a:solidFill>
            <a:srgbClr val="1A1A40"/>
          </a:solidFill>
          <a:ln w="127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782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5"/>
                </a:solidFill>
                <a:latin typeface="Calibri"/>
              </a:rPr>
              <a:t>Responsivní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0932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Mobile-first, sidebar → topbar na mobilu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00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HERNÍ MECHANIKY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194560"/>
          </a:xfrm>
          <a:prstGeom prst="rect">
            <a:avLst/>
          </a:prstGeom>
          <a:solidFill>
            <a:srgbClr val="121238"/>
          </a:solidFill>
          <a:ln w="19050">
            <a:solidFill>
              <a:srgbClr val="FF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E00"/>
                </a:solidFill>
                <a:latin typeface="Calibri"/>
              </a:rPr>
              <a:t>👾  Vlny nepřátel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Nepřátelé mají 1–2 HP, pohybují se a střílí. Počet vln roste s časem.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2194560"/>
          </a:xfrm>
          <a:prstGeom prst="rect">
            <a:avLst/>
          </a:prstGeom>
          <a:solidFill>
            <a:srgbClr val="121238"/>
          </a:solidFill>
          <a:ln w="19050">
            <a:solidFill>
              <a:srgbClr val="FF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E00"/>
                </a:solidFill>
                <a:latin typeface="Calibri"/>
              </a:rPr>
              <a:t>☄️  Meteority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Štěpí se při zásahu na 2 menší kusy. Každý kus = +5 bodů.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657600" cy="2194560"/>
          </a:xfrm>
          <a:prstGeom prst="rect">
            <a:avLst/>
          </a:prstGeom>
          <a:solidFill>
            <a:srgbClr val="121238"/>
          </a:solidFill>
          <a:ln w="19050">
            <a:solidFill>
              <a:srgbClr val="FF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E00"/>
                </a:solidFill>
                <a:latin typeface="Calibri"/>
              </a:rPr>
              <a:t>⚡  Powerupy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28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4 typy: Auto-střelba (10s), Štít (15s), Životy +1, Oprava základny.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3657600" cy="2194560"/>
          </a:xfrm>
          <a:prstGeom prst="rect">
            <a:avLst/>
          </a:prstGeom>
          <a:solidFill>
            <a:srgbClr val="121238"/>
          </a:solidFill>
          <a:ln w="1905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B5"/>
                </a:solidFill>
                <a:latin typeface="Calibri"/>
              </a:rPr>
              <a:t>🛡️  Základna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5 HP základna. Pokud ji nepřátelé zničí, hra končí.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657600"/>
            <a:ext cx="3657600" cy="2194560"/>
          </a:xfrm>
          <a:prstGeom prst="rect">
            <a:avLst/>
          </a:prstGeom>
          <a:solidFill>
            <a:srgbClr val="121238"/>
          </a:solidFill>
          <a:ln w="1905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B5"/>
                </a:solidFill>
                <a:latin typeface="Calibri"/>
              </a:rPr>
              <a:t>📊  HUD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2976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Skóre, čas, životy, HP základny, ukazatele aktivních powerupů.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657600"/>
            <a:ext cx="3657600" cy="2194560"/>
          </a:xfrm>
          <a:prstGeom prst="rect">
            <a:avLst/>
          </a:prstGeom>
          <a:solidFill>
            <a:srgbClr val="121238"/>
          </a:solidFill>
          <a:ln w="1905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794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B5"/>
                </a:solidFill>
                <a:latin typeface="Calibri"/>
              </a:rPr>
              <a:t>🏆  Highscores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976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JSON databáze. Jméno hráče, skóre, čas, datum. Web žebříček.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6309360"/>
            <a:ext cx="12051792" cy="548640"/>
          </a:xfrm>
          <a:prstGeom prst="rect">
            <a:avLst/>
          </a:prstGeom>
          <a:solidFill>
            <a:srgbClr val="12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E00"/>
                </a:solidFill>
                <a:latin typeface="Calibri"/>
              </a:rPr>
              <a:t>Ovládání: WASD pohyb  •  MEZERNÍK střelba  •  ESC pauza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METRIKY PROJEKTU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1920240"/>
          </a:xfrm>
          <a:prstGeom prst="rect">
            <a:avLst/>
          </a:prstGeom>
          <a:solidFill>
            <a:srgbClr val="121238"/>
          </a:solidFill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1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3366"/>
                </a:solidFill>
                <a:latin typeface="Calibri"/>
              </a:rPr>
              <a:t>1 100+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řádků kódu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1920240"/>
          </a:xfrm>
          <a:prstGeom prst="rect">
            <a:avLst/>
          </a:prstGeom>
          <a:solidFill>
            <a:srgbClr val="121238"/>
          </a:solidFill>
          <a:ln w="254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1731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4B5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testů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566160" cy="1920240"/>
          </a:xfrm>
          <a:prstGeom prst="rect">
            <a:avLst/>
          </a:prstGeom>
          <a:solidFill>
            <a:srgbClr val="121238"/>
          </a:solidFill>
          <a:ln w="25400">
            <a:solidFill>
              <a:srgbClr val="FF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1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DE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powerupy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3566160" cy="1920240"/>
          </a:xfrm>
          <a:prstGeom prst="rect">
            <a:avLst/>
          </a:prstGeom>
          <a:solidFill>
            <a:srgbClr val="121238"/>
          </a:solidFill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3366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rozlišení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566160"/>
            <a:ext cx="3566160" cy="1920240"/>
          </a:xfrm>
          <a:prstGeom prst="rect">
            <a:avLst/>
          </a:prstGeom>
          <a:solidFill>
            <a:srgbClr val="121238"/>
          </a:solidFill>
          <a:ln w="254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4B5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HTML stránek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566160"/>
            <a:ext cx="3566160" cy="1920240"/>
          </a:xfrm>
          <a:prstGeom prst="rect">
            <a:avLst/>
          </a:prstGeom>
          <a:solidFill>
            <a:srgbClr val="121238"/>
          </a:solidFill>
          <a:ln w="25400">
            <a:solidFill>
              <a:srgbClr val="FF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DE00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hráčů v 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6263640"/>
            <a:ext cx="12051792" cy="59436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81E"/>
                </a:solidFill>
                <a:latin typeface="Calibri"/>
              </a:rPr>
              <a:t>Celý projekt naprogramován od nuly jedním studentem.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ARCHITEKTURA SYSTÉMU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4389120"/>
          </a:xfrm>
          <a:prstGeom prst="rect">
            <a:avLst/>
          </a:prstGeom>
          <a:solidFill>
            <a:srgbClr val="121238"/>
          </a:solidFill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366"/>
                </a:solidFill>
                <a:latin typeface="Calibri"/>
              </a:rPr>
              <a:t>🎮 PYTHON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space_invaders.py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Herní smyčka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Objekty (Enemy, Meteor, Collectible)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Škálování rozlišení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Ukládání highscores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474720" cy="4389120"/>
          </a:xfrm>
          <a:prstGeom prst="rect">
            <a:avLst/>
          </a:prstGeom>
          <a:solidFill>
            <a:srgbClr val="121238"/>
          </a:solidFill>
          <a:ln w="25400">
            <a:solidFill>
              <a:srgbClr val="FF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E00"/>
                </a:solidFill>
                <a:latin typeface="Calibri"/>
              </a:rPr>
              <a:t>📄 JSON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highscores.json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Jméno hráče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Skóre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Čas hry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Datum záznamu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474720" cy="4389120"/>
          </a:xfrm>
          <a:prstGeom prst="rect">
            <a:avLst/>
          </a:prstGeom>
          <a:solidFill>
            <a:srgbClr val="121238"/>
          </a:solidFill>
          <a:ln w="254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5"/>
                </a:solidFill>
                <a:latin typeface="Calibri"/>
              </a:rPr>
              <a:t>🌐 WEB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057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HTML/CSS/JS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index.html (home)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37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highscores.html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login.html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  <a:latin typeface="Calibri"/>
              </a:rPr>
              <a:t>• register.html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E00"/>
                </a:solidFill>
                <a:latin typeface="Calibri"/>
              </a:rPr>
              <a:t>zapíše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4B5"/>
                </a:solidFill>
                <a:latin typeface="Calibri"/>
              </a:rPr>
              <a:t>← čte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E00"/>
                </a:solidFill>
                <a:latin typeface="Calibri"/>
              </a:rPr>
              <a:t>čte 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5760720"/>
            <a:ext cx="5486400" cy="640080"/>
          </a:xfrm>
          <a:prstGeom prst="rect">
            <a:avLst/>
          </a:prstGeom>
          <a:solidFill>
            <a:srgbClr val="1A1A40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5833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3366"/>
                </a:solidFill>
                <a:latin typeface="Calibri"/>
              </a:rPr>
              <a:t>🧪  test_game.py  —  automatické testy logiky hry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051792" cy="7315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 JSEM SE NAUČIL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749808"/>
          </a:xfrm>
          <a:prstGeom prst="rect">
            <a:avLst/>
          </a:prstGeom>
          <a:solidFill>
            <a:srgbClr val="121238"/>
          </a:solidFill>
          <a:ln w="127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98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E00"/>
                </a:solidFill>
                <a:latin typeface="Calibri"/>
              </a:rPr>
              <a:t>OOP v Pythonu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09344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Třídy, metody, dědičnost pro herní objekty (Enemy, Meteor, Collectible, Star).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749808"/>
          </a:xfrm>
          <a:prstGeom prst="rect">
            <a:avLst/>
          </a:prstGeom>
          <a:solidFill>
            <a:srgbClr val="121238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67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E00"/>
                </a:solidFill>
                <a:latin typeface="Calibri"/>
              </a:rPr>
              <a:t>Herní smyčka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78024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Game loop, FPS regulace, stavový automat (MENU → GAME → PAUSE → GAME_OVER).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1247120" cy="749808"/>
          </a:xfrm>
          <a:prstGeom prst="rect">
            <a:avLst/>
          </a:prstGeom>
          <a:solidFill>
            <a:srgbClr val="121238"/>
          </a:solidFill>
          <a:ln w="127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358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35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E00"/>
                </a:solidFill>
                <a:latin typeface="Calibri"/>
              </a:rPr>
              <a:t>Škálování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46704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Dynamické přepočítávání rozměrů pro 6 různých rozlišení pomocí koeficientů sx/sy.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59"/>
            <a:ext cx="11247120" cy="749808"/>
          </a:xfrm>
          <a:prstGeom prst="rect">
            <a:avLst/>
          </a:prstGeom>
          <a:solidFill>
            <a:srgbClr val="121238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0448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044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E00"/>
                </a:solidFill>
                <a:latin typeface="Calibri"/>
              </a:rPr>
              <a:t>Web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15383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Čistý HTML/CSS/JS bez frameworků — grid, flexbox, localStorage, async fetch.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11247120" cy="749808"/>
          </a:xfrm>
          <a:prstGeom prst="rect">
            <a:avLst/>
          </a:prstGeom>
          <a:solidFill>
            <a:srgbClr val="121238"/>
          </a:solidFill>
          <a:ln w="12700">
            <a:solidFill>
              <a:srgbClr val="00C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731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E00"/>
                </a:solidFill>
                <a:latin typeface="Calibri"/>
              </a:rPr>
              <a:t>Testování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084064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Automatické unit testy s assert, dočasné soubory, ANSI výstup do terminálu.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11247120" cy="749808"/>
          </a:xfrm>
          <a:prstGeom prst="rect">
            <a:avLst/>
          </a:prstGeom>
          <a:solidFill>
            <a:srgbClr val="121238"/>
          </a:solidFill>
          <a:ln w="127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641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641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E00"/>
                </a:solidFill>
                <a:latin typeface="Calibri"/>
              </a:rPr>
              <a:t>Datová vrstva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952744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CC"/>
                </a:solidFill>
                <a:latin typeface="Calibri"/>
              </a:rPr>
              <a:t>JSON jako jednoduchá databáze — čtení, zápis, řazení, deduplikace.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6309360"/>
            <a:ext cx="12051792" cy="54864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81E"/>
                </a:solidFill>
                <a:latin typeface="Calibri"/>
              </a:rPr>
              <a:t>GAME OVER — SCORE: A+  •  PRESS START FOR NEXT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